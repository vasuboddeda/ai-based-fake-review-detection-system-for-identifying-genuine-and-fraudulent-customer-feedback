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Kanit Thin"/>
      <p:regular r:id="rId201314"/>
    </p:embeddedFont>
    <p:embeddedFont>
      <p:font typeface="Kanit ExtraLight"/>
      <p:regular r:id="rId201315"/>
    </p:embeddedFont>
    <p:embeddedFont>
      <p:font typeface="Kanit Bold"/>
      <p:regular r:id="rId201316"/>
    </p:embeddedFont>
    <p:embeddedFont>
      <p:font typeface="Kanit ExtraBold"/>
      <p:regular r:id="rId201317"/>
    </p:embeddedFont>
    <p:embeddedFont>
      <p:font typeface="Kanit Black"/>
      <p:regular r:id="rId201318"/>
    </p:embeddedFont>
    <p:embeddedFont>
      <p:font typeface="Kanit Light"/>
      <p:regular r:id="rId201319"/>
    </p:embeddedFont>
    <p:embeddedFont>
      <p:font typeface="Kanit"/>
      <p:regular r:id="rId201320"/>
    </p:embeddedFont>
    <p:embeddedFont>
      <p:font typeface="Kanit Medium"/>
      <p:regular r:id="rId201321"/>
    </p:embeddedFont>
    <p:embeddedFont>
      <p:font typeface="Kanit SemiBold"/>
      <p:regular r:id="rId201322"/>
    </p:embeddedFont>
    <p:embeddedFont>
      <p:font typeface="Martel Sans ExtraLight"/>
      <p:regular r:id="rId201323"/>
    </p:embeddedFont>
    <p:embeddedFont>
      <p:font typeface="Martel Sans Light"/>
      <p:regular r:id="rId201324"/>
    </p:embeddedFont>
    <p:embeddedFont>
      <p:font typeface="Martel Sans"/>
      <p:regular r:id="rId201325"/>
    </p:embeddedFont>
    <p:embeddedFont>
      <p:font typeface="Martel Sans SemiBold"/>
      <p:regular r:id="rId201326"/>
    </p:embeddedFont>
    <p:embeddedFont>
      <p:font typeface="Martel Sans Bold"/>
      <p:regular r:id="rId201327"/>
    </p:embeddedFont>
    <p:embeddedFont>
      <p:font typeface="Martel Sans ExtraBold"/>
      <p:regular r:id="rId201328"/>
    </p:embeddedFont>
    <p:embeddedFont>
      <p:font typeface="Martel Sans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8142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AI-Based Fake Review Detection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79997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intelligent platform using Artificial Intelligence and Natural Language Processing to automatically identify genuine and fraudulent customer feedback — protecting consumer trust and platform credibility at scale.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546723"/>
            <a:ext cx="1896070" cy="215354"/>
          </a:xfrm>
          <a:prstGeom prst="roundRect">
            <a:avLst>
              <a:gd name="adj" fmla="val 22119"/>
            </a:avLst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589213"/>
            <a:ext cx="218316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ACADEMIC RESEARCH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892031" y="3546723"/>
            <a:ext cx="1807666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370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77086" y="3589213"/>
            <a:ext cx="209475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 · NLP · MACHINE LEARNING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0251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Growing Threat of Fake Reviews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925119" y="985391"/>
            <a:ext cx="4722763" cy="848767"/>
          </a:xfrm>
          <a:prstGeom prst="roundRect">
            <a:avLst>
              <a:gd name="adj" fmla="val 591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9464" y="1109737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Consumer Deception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49464" y="1357089"/>
            <a:ext cx="44740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Fabricated reviews mislead purchasing decisions, causing buyers to select inferior products based on false social proof.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25119" y="1935063"/>
            <a:ext cx="4722763" cy="848767"/>
          </a:xfrm>
          <a:prstGeom prst="roundRect">
            <a:avLst>
              <a:gd name="adj" fmla="val 591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9464" y="2059409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Reputation Damage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49464" y="2306762"/>
            <a:ext cx="44740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Malicious negative reviews unfairly harm legitimate businesses, distorting their public image and search rankings.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25119" y="2884736"/>
            <a:ext cx="4722763" cy="848767"/>
          </a:xfrm>
          <a:prstGeom prst="roundRect">
            <a:avLst>
              <a:gd name="adj" fmla="val 591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9464" y="3009081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Platform Erosion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49464" y="3256434"/>
            <a:ext cx="44740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Widespread fraud undermines trust in review ecosystems, driving users away from otherwise valuable platforms.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25119" y="3834408"/>
            <a:ext cx="4722763" cy="848767"/>
          </a:xfrm>
          <a:prstGeom prst="roundRect">
            <a:avLst>
              <a:gd name="adj" fmla="val 591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9464" y="3958754"/>
            <a:ext cx="44740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Manual Moderation Limits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49464" y="4206106"/>
            <a:ext cx="44740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Human reviewers cannot scale to match the volume and sophistication of modern coordinated fraud campaigns.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520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 &amp; Workflow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62310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257782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Text Preprocessing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441329" y="3761389"/>
            <a:ext cx="1210397" cy="3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Tokenize, remove stop-words, stem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9316" y="3257782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Classification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49316" y="3761389"/>
            <a:ext cx="1210397" cy="3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Machine learning model evaluates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193" y="1180034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Review Collection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1193" y="1683641"/>
            <a:ext cx="1210397" cy="3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Ingest raw review text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3279" y="1180034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Authenticity Output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053279" y="1683641"/>
            <a:ext cx="1210397" cy="3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Score generation and dashboard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4612" y="1180034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Extraction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14612" y="168364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Linguistic, sentiment, behavioral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4465811"/>
            <a:ext cx="8151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processes reviews through a structured pipeline — from raw text ingestion through NLP preprocessing, multi-dimensional feature extraction, and machine learning classification — ultimately delivering an authenticity score and actionable moderation insights via an admin dashboard.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NLP Preprocessing Pipeline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813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NLP Preprocessing Matters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00015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Raw review text is noisy and unstructured. The preprocessing pipeline transforms natural language into clean, normalized features that machine learning models can accurately interpret.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10979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Removes linguistic noise and irrelevant tokens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Standardizes vocabulary across diverse reviewers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Enables consistent sentiment and pattern detection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Reduces dimensionality for faster, more accurate classification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905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Detection Technologies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4555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0625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Machine Learning Classification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112764"/>
            <a:ext cx="39872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Supervised algorithms — including Logistic Regression, Random Forest, and SVM — classify reviews as genuine or fraudulent with high precision.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345555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180625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Sentiment Analysis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112764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Detects emotional polarity and extreme sentiment bias — a common signal in paid or incentivized fake reviews.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537421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Reviewer Behavior Analysis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843933"/>
            <a:ext cx="39872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Examines posting frequency, rating patterns, and account history to flag suspicious reviewer profiles and coordinated campaigns.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537421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Linguistic Feature Extraction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843933"/>
            <a:ext cx="39873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Analyzes syntax complexity, vocabulary richness, and writing style anomalies that distinguish human from fabricated content.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599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Authenticity Scoring &amp; Classification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12552"/>
            <a:ext cx="3932709" cy="2830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9935" y="1000423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the Score Is Computed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19935" y="1281038"/>
            <a:ext cx="393270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review receives a composite authenticity score (0–100) by weighting multiple detection signals. Reviews below a configurable threshold are flagged for moderator review or auto-removed.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6119" y="4061966"/>
            <a:ext cx="2652415" cy="690935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7757" y="4193604"/>
            <a:ext cx="238913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Score ≥ 70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7757" y="4435301"/>
            <a:ext cx="238913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✅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Genuine — Published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5718" y="4061966"/>
            <a:ext cx="2652489" cy="690935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77357" y="4193604"/>
            <a:ext cx="238921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Score 40–69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377357" y="4435301"/>
            <a:ext cx="2389212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⚠️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Suspicious — Flagged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95392" y="4061966"/>
            <a:ext cx="2652415" cy="690935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4288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7031" y="4193604"/>
            <a:ext cx="238913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Score &lt; 40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27031" y="4435301"/>
            <a:ext cx="238913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🚫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Fraudulent — Removed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816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Platform Features by User Role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84672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44676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951187"/>
            <a:ext cx="190500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View verified review badges, authenticity scores, and filtered genuine-only feedback to make confident purchasing decisions.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784672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644676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Administrators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951187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Manage users, configure detection thresholds, generate fraud reports, and oversee platform-wide review integrity.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784672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644676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Moderators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951187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Review flagged content queues, override automated decisions, and maintain accurate classification records.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784672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644676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Analysts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951187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Access sentiment trends, fraud statistics, reviewer insights, and historical analytics to inform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636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Implementation Methodology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80" y="690935"/>
            <a:ext cx="7418040" cy="39290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0033" y="3499026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59608" y="3793502"/>
            <a:ext cx="1964531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Scrape reviews and label genuine vs fake.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72694" y="1242058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42269" y="1536534"/>
            <a:ext cx="1964530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NLP preprocessing and vectorization.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44122" y="1242058"/>
            <a:ext cx="183410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44122" y="1536534"/>
            <a:ext cx="1964531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 classifiers and tune hyperparameters.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37006" y="3499154"/>
            <a:ext cx="1964530" cy="45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Deployment &amp; Monitoring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37006" y="4022893"/>
            <a:ext cx="1964530" cy="27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API integration, live scoring, continuous retraining.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6119" y="4659809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follows a rigorous four-phase methodology — from labeled data collection through feature engineering, model training with cross-validation, and production deployment with continuous performance monitoring and retraining.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Performance &amp; System Benefits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Advantages Over Manual Moderation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246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Higher Accuracy: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AI models consistently outperform human reviewers on large-scale datasets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Scalability: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Processes thousands of reviews per minute with no latency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Consistency: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Eliminates subjective bias and reviewer fatigue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Cost Efficiency: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Dramatically reduces manual moderation overhead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Trust &amp; Credibility: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Strengthens platform reputation and consumer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659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Enhancements &amp; Roadmap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564856" y="1031081"/>
            <a:ext cx="14288" cy="3700686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4" name="Shape 2"/>
          <p:cNvSpPr/>
          <p:nvPr/>
        </p:nvSpPr>
        <p:spPr>
          <a:xfrm>
            <a:off x="4065501" y="1165920"/>
            <a:ext cx="37876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4429981" y="1031081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77271" y="1054708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1074465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Transformer 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1339155"/>
            <a:ext cx="344462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Upgrade to BERT-based architectures for deeper semantic understanding and contextual fraud detection.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99732" y="1895773"/>
            <a:ext cx="37876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10" name="Shape 8"/>
          <p:cNvSpPr/>
          <p:nvPr/>
        </p:nvSpPr>
        <p:spPr>
          <a:xfrm>
            <a:off x="4429981" y="1760934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7271" y="1784561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203254" y="1804318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Multilingual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03254" y="2069009"/>
            <a:ext cx="344462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Extend NLP pipelines to support global languages and cross-cultural review patterns.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65501" y="2534915"/>
            <a:ext cx="37876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15" name="Shape 13"/>
          <p:cNvSpPr/>
          <p:nvPr/>
        </p:nvSpPr>
        <p:spPr>
          <a:xfrm>
            <a:off x="4429981" y="2400077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7271" y="2423703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6119" y="2443460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2708151"/>
            <a:ext cx="344462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 transparent, interpretable reasoning behind each classification decision for auditor trust.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99732" y="3174057"/>
            <a:ext cx="37876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20" name="Shape 18"/>
          <p:cNvSpPr/>
          <p:nvPr/>
        </p:nvSpPr>
        <p:spPr>
          <a:xfrm>
            <a:off x="4429981" y="3039219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7271" y="3062846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203254" y="3082603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03254" y="3347293"/>
            <a:ext cx="344462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Deploy streaming inference for instant fraud flagging at the moment of review submission.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5501" y="3813200"/>
            <a:ext cx="37876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25" name="Shape 23"/>
          <p:cNvSpPr/>
          <p:nvPr/>
        </p:nvSpPr>
        <p:spPr>
          <a:xfrm>
            <a:off x="4429981" y="3678362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7271" y="3701988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96119" y="3721745"/>
            <a:ext cx="34446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&amp; E-Commerce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119" y="3986436"/>
            <a:ext cx="344462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 seamless API integration with major platforms and scalable cloud-native deployment.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2026-07-28T05:32:27Z</dcterms:created>
  <dcterms:modified xsi:type="dcterms:W3CDTF">2026-07-28T05:32:27Z</dcterms:modified>
</cp:coreProperties>
</file>